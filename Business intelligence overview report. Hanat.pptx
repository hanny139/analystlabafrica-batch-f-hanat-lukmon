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60" r:id="rId4"/>
    <p:sldId id="266" r:id="rId5"/>
  </p:sldIdLst>
  <p:sldSz cx="18288000" cy="10287000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Telegraf" panose="020B0604020202020204" charset="0"/>
      <p:regular r:id="rId10"/>
    </p:embeddedFont>
    <p:embeddedFont>
      <p:font typeface="Telegraf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02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AT LUKMON" userId="48acb46d6102129e" providerId="LiveId" clId="{8EE5D629-ED6E-4A95-B267-0536CE65C35E}"/>
    <pc:docChg chg="modSld">
      <pc:chgData name="HANAT LUKMON" userId="48acb46d6102129e" providerId="LiveId" clId="{8EE5D629-ED6E-4A95-B267-0536CE65C35E}" dt="2026-10-24T20:13:40.281" v="19" actId="14100"/>
      <pc:docMkLst>
        <pc:docMk/>
      </pc:docMkLst>
      <pc:sldChg chg="modSp mod">
        <pc:chgData name="HANAT LUKMON" userId="48acb46d6102129e" providerId="LiveId" clId="{8EE5D629-ED6E-4A95-B267-0536CE65C35E}" dt="2026-10-24T20:13:40.281" v="19" actId="14100"/>
        <pc:sldMkLst>
          <pc:docMk/>
          <pc:sldMk cId="0" sldId="260"/>
        </pc:sldMkLst>
        <pc:spChg chg="mod">
          <ac:chgData name="HANAT LUKMON" userId="48acb46d6102129e" providerId="LiveId" clId="{8EE5D629-ED6E-4A95-B267-0536CE65C35E}" dt="2026-10-24T20:13:40.281" v="19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HANAT LUKMON" userId="48acb46d6102129e" providerId="LiveId" clId="{8EE5D629-ED6E-4A95-B267-0536CE65C35E}" dt="2026-10-24T20:13:15.701" v="18" actId="14100"/>
          <ac:spMkLst>
            <pc:docMk/>
            <pc:sldMk cId="0" sldId="260"/>
            <ac:spMk id="33" creationId="{143A8801-2853-5877-0783-1B0547B8DC73}"/>
          </ac:spMkLst>
        </pc:spChg>
        <pc:spChg chg="mod">
          <ac:chgData name="HANAT LUKMON" userId="48acb46d6102129e" providerId="LiveId" clId="{8EE5D629-ED6E-4A95-B267-0536CE65C35E}" dt="2026-10-24T20:13:08.892" v="16" actId="14100"/>
          <ac:spMkLst>
            <pc:docMk/>
            <pc:sldMk cId="0" sldId="260"/>
            <ac:spMk id="36" creationId="{7D715F31-7D9D-28BB-A36C-9032DF45C0E1}"/>
          </ac:spMkLst>
        </pc:spChg>
        <pc:spChg chg="mod">
          <ac:chgData name="HANAT LUKMON" userId="48acb46d6102129e" providerId="LiveId" clId="{8EE5D629-ED6E-4A95-B267-0536CE65C35E}" dt="2026-10-24T20:12:58.722" v="12" actId="14100"/>
          <ac:spMkLst>
            <pc:docMk/>
            <pc:sldMk cId="0" sldId="260"/>
            <ac:spMk id="39" creationId="{FCF58615-35FB-58CB-AB7D-A7D9B4985D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6053290" y="-299719"/>
            <a:ext cx="7032411" cy="9275363"/>
          </a:xfrm>
          <a:custGeom>
            <a:avLst/>
            <a:gdLst/>
            <a:ahLst/>
            <a:cxnLst/>
            <a:rect l="l" t="t" r="r" b="b"/>
            <a:pathLst>
              <a:path w="7032411" h="9275363">
                <a:moveTo>
                  <a:pt x="0" y="0"/>
                </a:moveTo>
                <a:lnTo>
                  <a:pt x="7032412" y="0"/>
                </a:lnTo>
                <a:lnTo>
                  <a:pt x="7032412" y="9275363"/>
                </a:lnTo>
                <a:lnTo>
                  <a:pt x="0" y="9275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87056" y="3250574"/>
            <a:ext cx="9838926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6000" b="1" spc="-194" dirty="0">
                <a:gradFill>
                  <a:gsLst>
                    <a:gs pos="0">
                      <a:srgbClr val="C1FF72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Business intelligence Overview Report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7056" y="6419712"/>
            <a:ext cx="6328579" cy="81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3367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Annual Review  Performance 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7056" y="8325629"/>
            <a:ext cx="7089518" cy="2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199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Prepared by: </a:t>
            </a:r>
            <a:r>
              <a:rPr lang="en-US" sz="2199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Hanat</a:t>
            </a:r>
            <a:r>
              <a:rPr lang="en-US" sz="2199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Lukmon</a:t>
            </a:r>
            <a:endParaRPr lang="en-US" sz="2199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423" y="-108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72" r="-247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98271" y="4649395"/>
            <a:ext cx="4842892" cy="4522131"/>
            <a:chOff x="-167914" y="-38100"/>
            <a:chExt cx="1585463" cy="1301236"/>
          </a:xfrm>
        </p:grpSpPr>
        <p:sp>
          <p:nvSpPr>
            <p:cNvPr id="4" name="Freeform 4"/>
            <p:cNvSpPr/>
            <p:nvPr/>
          </p:nvSpPr>
          <p:spPr>
            <a:xfrm>
              <a:off x="-167914" y="60225"/>
              <a:ext cx="1417549" cy="1202911"/>
            </a:xfrm>
            <a:custGeom>
              <a:avLst/>
              <a:gdLst/>
              <a:ahLst/>
              <a:cxnLst/>
              <a:rect l="l" t="t" r="r" b="b"/>
              <a:pathLst>
                <a:path w="1417549" h="1202911">
                  <a:moveTo>
                    <a:pt x="80687" y="0"/>
                  </a:moveTo>
                  <a:lnTo>
                    <a:pt x="1336862" y="0"/>
                  </a:lnTo>
                  <a:cubicBezTo>
                    <a:pt x="1358262" y="0"/>
                    <a:pt x="1378785" y="8501"/>
                    <a:pt x="1393917" y="23633"/>
                  </a:cubicBezTo>
                  <a:cubicBezTo>
                    <a:pt x="1409048" y="38764"/>
                    <a:pt x="1417549" y="59287"/>
                    <a:pt x="1417549" y="80687"/>
                  </a:cubicBezTo>
                  <a:lnTo>
                    <a:pt x="1417549" y="1122224"/>
                  </a:lnTo>
                  <a:cubicBezTo>
                    <a:pt x="1417549" y="1143623"/>
                    <a:pt x="1409048" y="1164146"/>
                    <a:pt x="1393917" y="1179278"/>
                  </a:cubicBezTo>
                  <a:cubicBezTo>
                    <a:pt x="1378785" y="1194410"/>
                    <a:pt x="1358262" y="1202911"/>
                    <a:pt x="1336862" y="1202911"/>
                  </a:cubicBezTo>
                  <a:lnTo>
                    <a:pt x="80687" y="1202911"/>
                  </a:lnTo>
                  <a:cubicBezTo>
                    <a:pt x="59287" y="1202911"/>
                    <a:pt x="38764" y="1194410"/>
                    <a:pt x="23633" y="1179278"/>
                  </a:cubicBezTo>
                  <a:cubicBezTo>
                    <a:pt x="8501" y="1164146"/>
                    <a:pt x="0" y="1143623"/>
                    <a:pt x="0" y="1122224"/>
                  </a:cubicBezTo>
                  <a:lnTo>
                    <a:pt x="0" y="80687"/>
                  </a:lnTo>
                  <a:cubicBezTo>
                    <a:pt x="0" y="59287"/>
                    <a:pt x="8501" y="38764"/>
                    <a:pt x="23633" y="23633"/>
                  </a:cubicBezTo>
                  <a:cubicBezTo>
                    <a:pt x="38764" y="8501"/>
                    <a:pt x="59287" y="0"/>
                    <a:pt x="806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424048">
                    <a:alpha val="10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C1FF7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17549" cy="1241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13332" y="5018273"/>
            <a:ext cx="4129307" cy="4312834"/>
            <a:chOff x="0" y="0"/>
            <a:chExt cx="1417549" cy="1202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7549" cy="1202911"/>
            </a:xfrm>
            <a:custGeom>
              <a:avLst/>
              <a:gdLst/>
              <a:ahLst/>
              <a:cxnLst/>
              <a:rect l="l" t="t" r="r" b="b"/>
              <a:pathLst>
                <a:path w="1417549" h="1202911">
                  <a:moveTo>
                    <a:pt x="80687" y="0"/>
                  </a:moveTo>
                  <a:lnTo>
                    <a:pt x="1336862" y="0"/>
                  </a:lnTo>
                  <a:cubicBezTo>
                    <a:pt x="1358262" y="0"/>
                    <a:pt x="1378785" y="8501"/>
                    <a:pt x="1393917" y="23633"/>
                  </a:cubicBezTo>
                  <a:cubicBezTo>
                    <a:pt x="1409048" y="38764"/>
                    <a:pt x="1417549" y="59287"/>
                    <a:pt x="1417549" y="80687"/>
                  </a:cubicBezTo>
                  <a:lnTo>
                    <a:pt x="1417549" y="1122224"/>
                  </a:lnTo>
                  <a:cubicBezTo>
                    <a:pt x="1417549" y="1143623"/>
                    <a:pt x="1409048" y="1164146"/>
                    <a:pt x="1393917" y="1179278"/>
                  </a:cubicBezTo>
                  <a:cubicBezTo>
                    <a:pt x="1378785" y="1194410"/>
                    <a:pt x="1358262" y="1202911"/>
                    <a:pt x="1336862" y="1202911"/>
                  </a:cubicBezTo>
                  <a:lnTo>
                    <a:pt x="80687" y="1202911"/>
                  </a:lnTo>
                  <a:cubicBezTo>
                    <a:pt x="59287" y="1202911"/>
                    <a:pt x="38764" y="1194410"/>
                    <a:pt x="23633" y="1179278"/>
                  </a:cubicBezTo>
                  <a:cubicBezTo>
                    <a:pt x="8501" y="1164146"/>
                    <a:pt x="0" y="1143623"/>
                    <a:pt x="0" y="1122224"/>
                  </a:cubicBezTo>
                  <a:lnTo>
                    <a:pt x="0" y="80687"/>
                  </a:lnTo>
                  <a:cubicBezTo>
                    <a:pt x="0" y="59287"/>
                    <a:pt x="8501" y="38764"/>
                    <a:pt x="23633" y="23633"/>
                  </a:cubicBezTo>
                  <a:cubicBezTo>
                    <a:pt x="38764" y="8501"/>
                    <a:pt x="59287" y="0"/>
                    <a:pt x="806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424048">
                    <a:alpha val="10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C1FF7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17549" cy="1241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58600" y="4991100"/>
            <a:ext cx="4129307" cy="4312835"/>
            <a:chOff x="0" y="0"/>
            <a:chExt cx="1417549" cy="12029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7549" cy="1202911"/>
            </a:xfrm>
            <a:custGeom>
              <a:avLst/>
              <a:gdLst/>
              <a:ahLst/>
              <a:cxnLst/>
              <a:rect l="l" t="t" r="r" b="b"/>
              <a:pathLst>
                <a:path w="1417549" h="1202911">
                  <a:moveTo>
                    <a:pt x="80687" y="0"/>
                  </a:moveTo>
                  <a:lnTo>
                    <a:pt x="1336862" y="0"/>
                  </a:lnTo>
                  <a:cubicBezTo>
                    <a:pt x="1358262" y="0"/>
                    <a:pt x="1378785" y="8501"/>
                    <a:pt x="1393917" y="23633"/>
                  </a:cubicBezTo>
                  <a:cubicBezTo>
                    <a:pt x="1409048" y="38764"/>
                    <a:pt x="1417549" y="59287"/>
                    <a:pt x="1417549" y="80687"/>
                  </a:cubicBezTo>
                  <a:lnTo>
                    <a:pt x="1417549" y="1122224"/>
                  </a:lnTo>
                  <a:cubicBezTo>
                    <a:pt x="1417549" y="1143623"/>
                    <a:pt x="1409048" y="1164146"/>
                    <a:pt x="1393917" y="1179278"/>
                  </a:cubicBezTo>
                  <a:cubicBezTo>
                    <a:pt x="1378785" y="1194410"/>
                    <a:pt x="1358262" y="1202911"/>
                    <a:pt x="1336862" y="1202911"/>
                  </a:cubicBezTo>
                  <a:lnTo>
                    <a:pt x="80687" y="1202911"/>
                  </a:lnTo>
                  <a:cubicBezTo>
                    <a:pt x="59287" y="1202911"/>
                    <a:pt x="38764" y="1194410"/>
                    <a:pt x="23633" y="1179278"/>
                  </a:cubicBezTo>
                  <a:cubicBezTo>
                    <a:pt x="8501" y="1164146"/>
                    <a:pt x="0" y="1143623"/>
                    <a:pt x="0" y="1122224"/>
                  </a:cubicBezTo>
                  <a:lnTo>
                    <a:pt x="0" y="80687"/>
                  </a:lnTo>
                  <a:cubicBezTo>
                    <a:pt x="0" y="59287"/>
                    <a:pt x="8501" y="38764"/>
                    <a:pt x="23633" y="23633"/>
                  </a:cubicBezTo>
                  <a:cubicBezTo>
                    <a:pt x="38764" y="8501"/>
                    <a:pt x="59287" y="0"/>
                    <a:pt x="806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424048">
                    <a:alpha val="100000"/>
                  </a:srgbClr>
                </a:gs>
              </a:gsLst>
              <a:lin ang="0"/>
            </a:gradFill>
            <a:ln w="19050" cap="rnd">
              <a:gradFill>
                <a:gsLst>
                  <a:gs pos="0">
                    <a:srgbClr val="C1FF72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17549" cy="1241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8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708071" y="5411395"/>
            <a:ext cx="847145" cy="342453"/>
          </a:xfrm>
          <a:custGeom>
            <a:avLst/>
            <a:gdLst/>
            <a:ahLst/>
            <a:cxnLst/>
            <a:rect l="l" t="t" r="r" b="b"/>
            <a:pathLst>
              <a:path w="847145" h="387445">
                <a:moveTo>
                  <a:pt x="0" y="0"/>
                </a:moveTo>
                <a:lnTo>
                  <a:pt x="847146" y="0"/>
                </a:lnTo>
                <a:lnTo>
                  <a:pt x="847146" y="387446"/>
                </a:lnTo>
                <a:lnTo>
                  <a:pt x="0" y="3874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127449" y="5360032"/>
            <a:ext cx="1102153" cy="800865"/>
          </a:xfrm>
          <a:custGeom>
            <a:avLst/>
            <a:gdLst/>
            <a:ahLst/>
            <a:cxnLst/>
            <a:rect l="l" t="t" r="r" b="b"/>
            <a:pathLst>
              <a:path w="442942" h="492158">
                <a:moveTo>
                  <a:pt x="0" y="0"/>
                </a:moveTo>
                <a:lnTo>
                  <a:pt x="442943" y="0"/>
                </a:lnTo>
                <a:lnTo>
                  <a:pt x="442943" y="492158"/>
                </a:lnTo>
                <a:lnTo>
                  <a:pt x="0" y="492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25418" y="669189"/>
            <a:ext cx="5884239" cy="148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4800" b="1" spc="-238" dirty="0">
                <a:gradFill>
                  <a:gsLst>
                    <a:gs pos="0">
                      <a:srgbClr val="C1FF72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Business intelligence &amp; Dashboard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5418" y="2668215"/>
            <a:ext cx="16329181" cy="33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Business intelligence is turning raw data into actionable insights for better decision making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98272" y="6160897"/>
            <a:ext cx="433239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C1FF72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0rganizations uses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60271" y="7011595"/>
            <a:ext cx="3600905" cy="1727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real‑time monitoring of KPIs.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Easy visualization of complex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Quick identification of trends and anomalies.</a:t>
            </a:r>
          </a:p>
          <a:p>
            <a:pPr algn="ctr">
              <a:lnSpc>
                <a:spcPts val="1408"/>
              </a:lnSpc>
            </a:pPr>
            <a:endParaRPr lang="en-US" sz="16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00329" y="6286384"/>
            <a:ext cx="3284742" cy="4966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000" b="1" dirty="0">
                <a:solidFill>
                  <a:srgbClr val="92D050"/>
                </a:solidFill>
                <a:latin typeface="Telegraf Bold" panose="020B0604020202020204" charset="0"/>
              </a:rPr>
              <a:t>Dashboard Benefits</a:t>
            </a:r>
            <a:endParaRPr lang="en-US" sz="2000" dirty="0">
              <a:latin typeface="Telegraf Bold" panose="020B0604020202020204" charset="0"/>
            </a:endParaRPr>
          </a:p>
          <a:p>
            <a:pPr algn="ctr">
              <a:lnSpc>
                <a:spcPts val="1408"/>
              </a:lnSpc>
            </a:pPr>
            <a:endParaRPr lang="en-US" sz="1600" b="1" dirty="0">
              <a:solidFill>
                <a:schemeClr val="bg1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57634" y="7039454"/>
            <a:ext cx="3705700" cy="1419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vivid view of performance.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Evidence‑based choices.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Proactive management through early detection.</a:t>
            </a:r>
          </a:p>
          <a:p>
            <a:pPr algn="ctr">
              <a:lnSpc>
                <a:spcPts val="1408"/>
              </a:lnSpc>
            </a:pPr>
            <a:endParaRPr lang="en-US" sz="16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253802" y="6401996"/>
            <a:ext cx="309099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C1FF72"/>
                </a:solidFill>
                <a:latin typeface="Telegraf Bold" panose="020B0604020202020204" charset="0"/>
                <a:ea typeface="Telegraf Bold"/>
                <a:cs typeface="Telegraf Bold"/>
                <a:sym typeface="Telegraf Bold"/>
              </a:rPr>
              <a:t> Business objective of my Dashboard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66071" y="7240195"/>
            <a:ext cx="4361492" cy="1419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Analyze sales &amp; profit across products, regions, and segments.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Identify top performers and risks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Identify growth opportunities.</a:t>
            </a:r>
          </a:p>
          <a:p>
            <a:pPr algn="ctr">
              <a:lnSpc>
                <a:spcPts val="1408"/>
              </a:lnSpc>
            </a:pPr>
            <a:endParaRPr lang="en-US" sz="16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30" name="Freeform 17">
            <a:extLst>
              <a:ext uri="{FF2B5EF4-FFF2-40B4-BE49-F238E27FC236}">
                <a16:creationId xmlns:a16="http://schemas.microsoft.com/office/drawing/2014/main" id="{266FB099-831B-1B82-D37E-BB6DA74BFFC5}"/>
              </a:ext>
            </a:extLst>
          </p:cNvPr>
          <p:cNvSpPr/>
          <p:nvPr/>
        </p:nvSpPr>
        <p:spPr>
          <a:xfrm>
            <a:off x="8804569" y="5341377"/>
            <a:ext cx="965769" cy="667193"/>
          </a:xfrm>
          <a:custGeom>
            <a:avLst/>
            <a:gdLst/>
            <a:ahLst/>
            <a:cxnLst/>
            <a:rect l="l" t="t" r="r" b="b"/>
            <a:pathLst>
              <a:path w="442942" h="492158">
                <a:moveTo>
                  <a:pt x="0" y="0"/>
                </a:moveTo>
                <a:lnTo>
                  <a:pt x="442943" y="0"/>
                </a:lnTo>
                <a:lnTo>
                  <a:pt x="442943" y="492158"/>
                </a:lnTo>
                <a:lnTo>
                  <a:pt x="0" y="4921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12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72" r="-247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5291696" y="723900"/>
            <a:ext cx="7281304" cy="965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487"/>
              </a:lnSpc>
            </a:pPr>
            <a:r>
              <a:rPr lang="en-US" sz="7199" b="1" spc="-302" dirty="0">
                <a:gradFill>
                  <a:gsLst>
                    <a:gs pos="0">
                      <a:srgbClr val="C1FF72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Business insight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379" y="2935533"/>
            <a:ext cx="4413143" cy="6019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84304" y="5658243"/>
            <a:ext cx="10739334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rgbClr val="C1FF72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816D23D-A537-2602-E892-D5BD0EE27CFA}"/>
              </a:ext>
            </a:extLst>
          </p:cNvPr>
          <p:cNvGrpSpPr/>
          <p:nvPr/>
        </p:nvGrpSpPr>
        <p:grpSpPr>
          <a:xfrm>
            <a:off x="1011350" y="1635450"/>
            <a:ext cx="16265300" cy="7602201"/>
            <a:chOff x="1184500" y="2117594"/>
            <a:chExt cx="15004718" cy="6898075"/>
          </a:xfrm>
        </p:grpSpPr>
        <p:grpSp>
          <p:nvGrpSpPr>
            <p:cNvPr id="7" name="Group 7"/>
            <p:cNvGrpSpPr/>
            <p:nvPr/>
          </p:nvGrpSpPr>
          <p:grpSpPr>
            <a:xfrm>
              <a:off x="5047690" y="2117594"/>
              <a:ext cx="7709424" cy="2677966"/>
              <a:chOff x="0" y="-38100"/>
              <a:chExt cx="1417549" cy="25360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17549" cy="215507"/>
              </a:xfrm>
              <a:custGeom>
                <a:avLst/>
                <a:gdLst/>
                <a:ahLst/>
                <a:cxnLst/>
                <a:rect l="l" t="t" r="r" b="b"/>
                <a:pathLst>
                  <a:path w="1417549" h="183966">
                    <a:moveTo>
                      <a:pt x="65013" y="0"/>
                    </a:moveTo>
                    <a:lnTo>
                      <a:pt x="1352536" y="0"/>
                    </a:lnTo>
                    <a:cubicBezTo>
                      <a:pt x="1388442" y="0"/>
                      <a:pt x="1417549" y="29107"/>
                      <a:pt x="1417549" y="65013"/>
                    </a:cubicBezTo>
                    <a:lnTo>
                      <a:pt x="1417549" y="118953"/>
                    </a:lnTo>
                    <a:cubicBezTo>
                      <a:pt x="1417549" y="136196"/>
                      <a:pt x="1410700" y="152732"/>
                      <a:pt x="1398507" y="164924"/>
                    </a:cubicBezTo>
                    <a:cubicBezTo>
                      <a:pt x="1386315" y="177117"/>
                      <a:pt x="1369779" y="183966"/>
                      <a:pt x="1352536" y="183966"/>
                    </a:cubicBezTo>
                    <a:lnTo>
                      <a:pt x="65013" y="183966"/>
                    </a:lnTo>
                    <a:cubicBezTo>
                      <a:pt x="29107" y="183966"/>
                      <a:pt x="0" y="154859"/>
                      <a:pt x="0" y="118953"/>
                    </a:cubicBezTo>
                    <a:lnTo>
                      <a:pt x="0" y="65013"/>
                    </a:lnTo>
                    <a:cubicBezTo>
                      <a:pt x="0" y="29107"/>
                      <a:pt x="29107" y="0"/>
                      <a:pt x="6501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0"/>
                    </a:srgbClr>
                  </a:gs>
                  <a:gs pos="100000">
                    <a:srgbClr val="424048">
                      <a:alpha val="100000"/>
                    </a:srgbClr>
                  </a:gs>
                </a:gsLst>
                <a:lin ang="0"/>
              </a:gradFill>
              <a:ln w="19050" cap="rnd">
                <a:gradFill>
                  <a:gsLst>
                    <a:gs pos="0">
                      <a:srgbClr val="C1FF72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US" sz="2000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17549" cy="222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380"/>
                  </a:lnSpc>
                  <a:spcBef>
                    <a:spcPct val="0"/>
                  </a:spcBef>
                </a:pPr>
                <a:endParaRPr sz="200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C8B1B5-4631-8033-D3C7-879E8F45B4B3}"/>
                </a:ext>
              </a:extLst>
            </p:cNvPr>
            <p:cNvSpPr txBox="1"/>
            <p:nvPr/>
          </p:nvSpPr>
          <p:spPr>
            <a:xfrm>
              <a:off x="1184500" y="2901772"/>
              <a:ext cx="2567790" cy="977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Five key insights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92AFBB-3F6E-15D7-4A0D-387E567AF0A7}"/>
                </a:ext>
              </a:extLst>
            </p:cNvPr>
            <p:cNvSpPr txBox="1"/>
            <p:nvPr/>
          </p:nvSpPr>
          <p:spPr>
            <a:xfrm>
              <a:off x="1184500" y="5224265"/>
              <a:ext cx="2796390" cy="977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Three business Risk</a:t>
              </a:r>
              <a:endParaRPr lang="en-US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CF655B6E-C627-E210-3E06-7703FCF07238}"/>
                </a:ext>
              </a:extLst>
            </p:cNvPr>
            <p:cNvGrpSpPr/>
            <p:nvPr/>
          </p:nvGrpSpPr>
          <p:grpSpPr>
            <a:xfrm>
              <a:off x="5105731" y="4307098"/>
              <a:ext cx="7709424" cy="2646097"/>
              <a:chOff x="0" y="-38100"/>
              <a:chExt cx="1417549" cy="250589"/>
            </a:xfrm>
          </p:grpSpPr>
          <p:sp>
            <p:nvSpPr>
              <p:cNvPr id="33" name="Freeform 8">
                <a:extLst>
                  <a:ext uri="{FF2B5EF4-FFF2-40B4-BE49-F238E27FC236}">
                    <a16:creationId xmlns:a16="http://schemas.microsoft.com/office/drawing/2014/main" id="{143A8801-2853-5877-0783-1B0547B8DC73}"/>
                  </a:ext>
                </a:extLst>
              </p:cNvPr>
              <p:cNvSpPr/>
              <p:nvPr/>
            </p:nvSpPr>
            <p:spPr>
              <a:xfrm>
                <a:off x="0" y="28523"/>
                <a:ext cx="1417549" cy="183966"/>
              </a:xfrm>
              <a:custGeom>
                <a:avLst/>
                <a:gdLst/>
                <a:ahLst/>
                <a:cxnLst/>
                <a:rect l="l" t="t" r="r" b="b"/>
                <a:pathLst>
                  <a:path w="1417549" h="183966">
                    <a:moveTo>
                      <a:pt x="65013" y="0"/>
                    </a:moveTo>
                    <a:lnTo>
                      <a:pt x="1352536" y="0"/>
                    </a:lnTo>
                    <a:cubicBezTo>
                      <a:pt x="1388442" y="0"/>
                      <a:pt x="1417549" y="29107"/>
                      <a:pt x="1417549" y="65013"/>
                    </a:cubicBezTo>
                    <a:lnTo>
                      <a:pt x="1417549" y="118953"/>
                    </a:lnTo>
                    <a:cubicBezTo>
                      <a:pt x="1417549" y="136196"/>
                      <a:pt x="1410700" y="152732"/>
                      <a:pt x="1398507" y="164924"/>
                    </a:cubicBezTo>
                    <a:cubicBezTo>
                      <a:pt x="1386315" y="177117"/>
                      <a:pt x="1369779" y="183966"/>
                      <a:pt x="1352536" y="183966"/>
                    </a:cubicBezTo>
                    <a:lnTo>
                      <a:pt x="65013" y="183966"/>
                    </a:lnTo>
                    <a:cubicBezTo>
                      <a:pt x="29107" y="183966"/>
                      <a:pt x="0" y="154859"/>
                      <a:pt x="0" y="118953"/>
                    </a:cubicBezTo>
                    <a:lnTo>
                      <a:pt x="0" y="65013"/>
                    </a:lnTo>
                    <a:cubicBezTo>
                      <a:pt x="0" y="29107"/>
                      <a:pt x="29107" y="0"/>
                      <a:pt x="6501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0"/>
                    </a:srgbClr>
                  </a:gs>
                  <a:gs pos="100000">
                    <a:srgbClr val="424048">
                      <a:alpha val="100000"/>
                    </a:srgbClr>
                  </a:gs>
                </a:gsLst>
                <a:lin ang="0"/>
              </a:gradFill>
              <a:ln w="19050" cap="rnd">
                <a:gradFill>
                  <a:gsLst>
                    <a:gs pos="0">
                      <a:srgbClr val="C1FF72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34" name="TextBox 9">
                <a:extLst>
                  <a:ext uri="{FF2B5EF4-FFF2-40B4-BE49-F238E27FC236}">
                    <a16:creationId xmlns:a16="http://schemas.microsoft.com/office/drawing/2014/main" id="{F6B7999C-BE54-3B84-ABB1-D98B8ADB5EA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7549" cy="222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380"/>
                  </a:lnSpc>
                  <a:spcBef>
                    <a:spcPct val="0"/>
                  </a:spcBef>
                </a:pPr>
                <a:endParaRPr sz="2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Group 7">
              <a:extLst>
                <a:ext uri="{FF2B5EF4-FFF2-40B4-BE49-F238E27FC236}">
                  <a16:creationId xmlns:a16="http://schemas.microsoft.com/office/drawing/2014/main" id="{1B518A21-70F8-4C16-00D1-7352339D7270}"/>
                </a:ext>
              </a:extLst>
            </p:cNvPr>
            <p:cNvGrpSpPr/>
            <p:nvPr/>
          </p:nvGrpSpPr>
          <p:grpSpPr>
            <a:xfrm>
              <a:off x="5105731" y="6572325"/>
              <a:ext cx="7709424" cy="2443344"/>
              <a:chOff x="0" y="-38100"/>
              <a:chExt cx="1417549" cy="231388"/>
            </a:xfrm>
          </p:grpSpPr>
          <p:sp>
            <p:nvSpPr>
              <p:cNvPr id="36" name="Freeform 8">
                <a:extLst>
                  <a:ext uri="{FF2B5EF4-FFF2-40B4-BE49-F238E27FC236}">
                    <a16:creationId xmlns:a16="http://schemas.microsoft.com/office/drawing/2014/main" id="{7D715F31-7D9D-28BB-A36C-9032DF45C0E1}"/>
                  </a:ext>
                </a:extLst>
              </p:cNvPr>
              <p:cNvSpPr/>
              <p:nvPr/>
            </p:nvSpPr>
            <p:spPr>
              <a:xfrm>
                <a:off x="0" y="30528"/>
                <a:ext cx="1417549" cy="162760"/>
              </a:xfrm>
              <a:custGeom>
                <a:avLst/>
                <a:gdLst/>
                <a:ahLst/>
                <a:cxnLst/>
                <a:rect l="l" t="t" r="r" b="b"/>
                <a:pathLst>
                  <a:path w="1417549" h="183966">
                    <a:moveTo>
                      <a:pt x="65013" y="0"/>
                    </a:moveTo>
                    <a:lnTo>
                      <a:pt x="1352536" y="0"/>
                    </a:lnTo>
                    <a:cubicBezTo>
                      <a:pt x="1388442" y="0"/>
                      <a:pt x="1417549" y="29107"/>
                      <a:pt x="1417549" y="65013"/>
                    </a:cubicBezTo>
                    <a:lnTo>
                      <a:pt x="1417549" y="118953"/>
                    </a:lnTo>
                    <a:cubicBezTo>
                      <a:pt x="1417549" y="136196"/>
                      <a:pt x="1410700" y="152732"/>
                      <a:pt x="1398507" y="164924"/>
                    </a:cubicBezTo>
                    <a:cubicBezTo>
                      <a:pt x="1386315" y="177117"/>
                      <a:pt x="1369779" y="183966"/>
                      <a:pt x="1352536" y="183966"/>
                    </a:cubicBezTo>
                    <a:lnTo>
                      <a:pt x="65013" y="183966"/>
                    </a:lnTo>
                    <a:cubicBezTo>
                      <a:pt x="29107" y="183966"/>
                      <a:pt x="0" y="154859"/>
                      <a:pt x="0" y="118953"/>
                    </a:cubicBezTo>
                    <a:lnTo>
                      <a:pt x="0" y="65013"/>
                    </a:lnTo>
                    <a:cubicBezTo>
                      <a:pt x="0" y="29107"/>
                      <a:pt x="29107" y="0"/>
                      <a:pt x="6501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0"/>
                    </a:srgbClr>
                  </a:gs>
                  <a:gs pos="100000">
                    <a:srgbClr val="424048">
                      <a:alpha val="100000"/>
                    </a:srgbClr>
                  </a:gs>
                </a:gsLst>
                <a:lin ang="0"/>
              </a:gradFill>
              <a:ln w="19050" cap="rnd">
                <a:gradFill>
                  <a:gsLst>
                    <a:gs pos="0">
                      <a:srgbClr val="C1FF72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prstDash val="solid"/>
                <a:round/>
              </a:ln>
            </p:spPr>
          </p:sp>
          <p:sp>
            <p:nvSpPr>
              <p:cNvPr id="37" name="TextBox 9">
                <a:extLst>
                  <a:ext uri="{FF2B5EF4-FFF2-40B4-BE49-F238E27FC236}">
                    <a16:creationId xmlns:a16="http://schemas.microsoft.com/office/drawing/2014/main" id="{6B89C17B-F61B-3BC3-F45C-A8190AEC10E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17549" cy="222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380"/>
                  </a:lnSpc>
                  <a:spcBef>
                    <a:spcPct val="0"/>
                  </a:spcBef>
                </a:pPr>
                <a:endParaRPr sz="200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CF58615-35FB-58CB-AB7D-A7D9B4985D93}"/>
                </a:ext>
              </a:extLst>
            </p:cNvPr>
            <p:cNvSpPr txBox="1"/>
            <p:nvPr/>
          </p:nvSpPr>
          <p:spPr>
            <a:xfrm>
              <a:off x="5386387" y="2718356"/>
              <a:ext cx="7250410" cy="20945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Total sales are growing = $2.30M, profit = $286.40K (12% margin).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Phones = top sales category (~$0.17M).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Some categories (Tables, Supplies) show losses.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West region leads with 28.08% of sales.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Sales trend shows steady growth (2014–2017).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479A87-F3C4-B1A3-A1DC-D11090AA9D9F}"/>
                </a:ext>
              </a:extLst>
            </p:cNvPr>
            <p:cNvSpPr txBox="1"/>
            <p:nvPr/>
          </p:nvSpPr>
          <p:spPr>
            <a:xfrm>
              <a:off x="5449884" y="5139365"/>
              <a:ext cx="10739334" cy="1089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Loss‑making categories reduce profitability.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Heavy reliance on West/East regions.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Thin profit margin leaves little buffer</a:t>
              </a:r>
              <a:r>
                <a:rPr lang="en-US" sz="2000" dirty="0">
                  <a:solidFill>
                    <a:schemeClr val="bg1"/>
                  </a:solidFill>
                  <a:effectLst/>
                </a:rPr>
                <a:t>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A2FE3FF-1E29-C9F3-F39C-C4A06739E5E5}"/>
                </a:ext>
              </a:extLst>
            </p:cNvPr>
            <p:cNvSpPr txBox="1"/>
            <p:nvPr/>
          </p:nvSpPr>
          <p:spPr>
            <a:xfrm>
              <a:off x="5449884" y="7484273"/>
              <a:ext cx="10510157" cy="1089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Expand high‑performing categories (Phones, Copiers).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Grow underperforming regions (Central, South).</a:t>
              </a:r>
              <a:endParaRPr lang="en-US" sz="24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  <a:effectLst/>
                  <a:latin typeface="Century Gothic" panose="020B0502020202020204" pitchFamily="34" charset="0"/>
                </a:rPr>
                <a:t>Diversify customer segments to balance revenue</a:t>
              </a:r>
              <a:r>
                <a:rPr lang="en-US" sz="2000" dirty="0">
                  <a:solidFill>
                    <a:schemeClr val="bg1"/>
                  </a:solidFill>
                  <a:effectLst/>
                </a:rPr>
                <a:t>.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0C2DEE4-02F3-8CF5-3CEA-13110EB36142}"/>
                </a:ext>
              </a:extLst>
            </p:cNvPr>
            <p:cNvCxnSpPr/>
            <p:nvPr/>
          </p:nvCxnSpPr>
          <p:spPr>
            <a:xfrm>
              <a:off x="3478317" y="3378825"/>
              <a:ext cx="1264573" cy="0"/>
            </a:xfrm>
            <a:prstGeom prst="straightConnector1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D446530-55AC-CD37-AC23-BFA1702913A6}"/>
                </a:ext>
              </a:extLst>
            </p:cNvPr>
            <p:cNvSpPr txBox="1"/>
            <p:nvPr/>
          </p:nvSpPr>
          <p:spPr>
            <a:xfrm>
              <a:off x="1237690" y="7758954"/>
              <a:ext cx="2362200" cy="1256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Three business opportunity</a:t>
              </a:r>
              <a:endParaRPr lang="en-US" sz="2800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FD6A51B-14F8-16A3-F7B2-BC0C4B4B21AE}"/>
                </a:ext>
              </a:extLst>
            </p:cNvPr>
            <p:cNvCxnSpPr/>
            <p:nvPr/>
          </p:nvCxnSpPr>
          <p:spPr>
            <a:xfrm>
              <a:off x="4110603" y="5601030"/>
              <a:ext cx="784687" cy="0"/>
            </a:xfrm>
            <a:prstGeom prst="straightConnector1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B5D1DD3-5062-647F-CB87-F98A4A55B2C1}"/>
                </a:ext>
              </a:extLst>
            </p:cNvPr>
            <p:cNvCxnSpPr>
              <a:cxnSpLocks/>
            </p:cNvCxnSpPr>
            <p:nvPr/>
          </p:nvCxnSpPr>
          <p:spPr>
            <a:xfrm>
              <a:off x="3805803" y="7989786"/>
              <a:ext cx="1073158" cy="0"/>
            </a:xfrm>
            <a:prstGeom prst="straightConnector1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" y="-1088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12"/>
          <p:cNvSpPr/>
          <p:nvPr/>
        </p:nvSpPr>
        <p:spPr>
          <a:xfrm rot="-5400000">
            <a:off x="11040394" y="1083836"/>
            <a:ext cx="6250779" cy="8244433"/>
          </a:xfrm>
          <a:custGeom>
            <a:avLst/>
            <a:gdLst/>
            <a:ahLst/>
            <a:cxnLst/>
            <a:rect l="l" t="t" r="r" b="b"/>
            <a:pathLst>
              <a:path w="6250779" h="8244433">
                <a:moveTo>
                  <a:pt x="0" y="0"/>
                </a:moveTo>
                <a:lnTo>
                  <a:pt x="6250779" y="0"/>
                </a:lnTo>
                <a:lnTo>
                  <a:pt x="6250779" y="8244433"/>
                </a:lnTo>
                <a:lnTo>
                  <a:pt x="0" y="8244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105400" y="3218949"/>
            <a:ext cx="7444128" cy="3827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sz="14279" b="1" spc="-59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212</Words>
  <Application>Microsoft Office PowerPoint</Application>
  <PresentationFormat>Custom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Telegraf</vt:lpstr>
      <vt:lpstr>Calibri</vt:lpstr>
      <vt:lpstr>Telegraf Bold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Black Modern Business Report Presentation</dc:title>
  <dc:creator>HANAT LUKMON</dc:creator>
  <cp:lastModifiedBy>HANAT LUKMON</cp:lastModifiedBy>
  <cp:revision>3</cp:revision>
  <dcterms:created xsi:type="dcterms:W3CDTF">2006-08-16T00:00:00Z</dcterms:created>
  <dcterms:modified xsi:type="dcterms:W3CDTF">2026-10-24T20:14:21Z</dcterms:modified>
  <dc:identifier>DAHSaEKkMrM</dc:identifier>
</cp:coreProperties>
</file>